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3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245" y="-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4393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Meddy, an AI medical chatbot that understands symptoms written in natural English and predicts a possible disease. Emphasize that it is supportive, not a replacement for doctors.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practical problem: users do not always enter clean symptom names. The chatbot solves this by using NLP, spelling correction, follow-up questions, and a disease prediction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that the objective is broader than just model accuracy. The project connects multiple components into a working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slowly. Explain that the project first converts language to symptoms, then converts symptoms to disease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actual dataset numbers. Explain that dataset.csv trains disease prediction, while intents.json trains symptom recognition. Other files make the response more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user can write naturally. The system cleans the sentence, corrects spelling, then maps the text to a symptom tag.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as the first model. Its role is text understanding, not final disease diagnosis. It outputs symptom tags.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second model. It takes already-recognized symptoms and predicts the disease. Mention that stacking combines several models and cv=5 is used inside stacking.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training pipeline. Also mention the honest limitation: the code creates a train/test split but the final model is fitted on the full dataset, so evaluation can be improved.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this as a key feature. The chatbot becomes interactive by asking related symptoms and understanding yes/no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summarize the project value. It is not just model training; it is a full AI chatbot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that testing included both model evaluation and chatbot behavior testing. Mention spelling tests, logic tests, and greeting/unknown input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the system worked on example cases and saved history. Mention these are example outputs from the project history, not clinical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honest. Say the chatbot is educational and supportive, not a replacement for professional medical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if asked what libraries were used. Connect each library to its job in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main takeaway: this is a full AI application that assists users, but does not replace doctors.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DDY_MASTER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C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C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3B"/>
          </a:solidFill>
          <a:ln w="12700">
            <a:solidFill>
              <a:srgbClr val="0B25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wide_clean_modern_illustration_concept_art_of_a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5577840" y="0"/>
            <a:ext cx="66294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12080" y="0"/>
            <a:ext cx="2011680" cy="6858000"/>
          </a:xfrm>
          <a:prstGeom prst="rect">
            <a:avLst/>
          </a:prstGeom>
          <a:solidFill>
            <a:srgbClr val="0B253B">
              <a:alpha val="65000"/>
            </a:srgbClr>
          </a:solidFill>
          <a:ln w="12700">
            <a:solidFill>
              <a:srgbClr val="0B25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85800" y="685800"/>
            <a:ext cx="1508760" cy="310896"/>
          </a:xfrm>
          <a:prstGeom prst="roundRect">
            <a:avLst>
              <a:gd name="adj" fmla="val 44118"/>
            </a:avLst>
          </a:prstGeom>
          <a:solidFill>
            <a:srgbClr val="00A6C8"/>
          </a:solidFill>
          <a:ln w="12700">
            <a:solidFill>
              <a:srgbClr val="00A6C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" y="74523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AI + Healthcare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135331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Meddy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713232" y="20848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DEEFF"/>
                </a:solidFill>
              </a:rPr>
              <a:t>AI Medical Chatbot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13232" y="2697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AF8FF"/>
                </a:solidFill>
              </a:rPr>
              <a:t>A conversational symptom-checking system using NLP, deep learning, and machine learning disease prediction.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13232" y="3794760"/>
            <a:ext cx="3474720" cy="0"/>
          </a:xfrm>
          <a:prstGeom prst="line">
            <a:avLst/>
          </a:prstGeom>
          <a:noFill/>
          <a:ln w="38100">
            <a:solidFill>
              <a:srgbClr val="00A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13232" y="45262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DDDF2"/>
                </a:solidFill>
              </a:rPr>
              <a:t>Python • Flask • PyTorch • Scikit-learn • NLTK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C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Project Matters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381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418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8"/>
                </a:solidFill>
              </a:rPr>
              <a:t>The motivation is to make symptom checking more interactive, understandable, and safer.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</a:rPr>
              <a:t>Meddy AI Medical Chatbot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417319"/>
            <a:ext cx="4393276" cy="1691641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41247" y="1527047"/>
            <a:ext cx="410039" cy="349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⚠️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16151" y="1527047"/>
            <a:ext cx="3514621" cy="31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Problem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1991973"/>
            <a:ext cx="3877798" cy="898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Users may not know medical terms and may describe symptoms in everyday language.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6808124" y="1417318"/>
            <a:ext cx="4484716" cy="1682497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216998" y="1525787"/>
            <a:ext cx="373471" cy="349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💡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575388" y="1517903"/>
            <a:ext cx="3201177" cy="314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Solution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216998" y="1883663"/>
            <a:ext cx="3531965" cy="89831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Meddy turns natural text into symptom tags, asks follow-up questions, then predicts a likely disease.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868680" y="34564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6BC"/>
                </a:solidFill>
              </a:rPr>
              <a:t>Research Question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3822192"/>
            <a:ext cx="10835640" cy="1325880"/>
          </a:xfrm>
          <a:prstGeom prst="roundRect">
            <a:avLst>
              <a:gd name="adj" fmla="val 10345"/>
            </a:avLst>
          </a:prstGeom>
          <a:solidFill>
            <a:srgbClr val="EAF8FF"/>
          </a:solidFill>
          <a:ln w="12700">
            <a:solidFill>
              <a:srgbClr val="BCE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60120" y="4160520"/>
            <a:ext cx="10287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4"/>
                </a:solidFill>
              </a:rPr>
              <a:t>Can a chatbot combine NLP-based symptom recognition with a machine learning disease prediction model to provide a clearer and more conversational symptom-checking experience?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C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381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418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8"/>
                </a:solidFill>
              </a:rPr>
              <a:t>The goal is not only to classify diseases, but to create a full chatbot workflow.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</a:rPr>
              <a:t>Meddy AI Medical Chatbot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5166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32688" y="15270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🗣️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07592" y="1527048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Understand user input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78408" y="1892808"/>
            <a:ext cx="4764024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Recognize symptoms from natural language, not only exact dataset terms.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166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64808" y="15270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🧠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39712" y="1527048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Predict disease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0528" y="1892808"/>
            <a:ext cx="4764024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Use selected symptoms as model features to predict a possible disease.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3291840"/>
            <a:ext cx="5166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32688" y="34015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💬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07592" y="3401568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Improve interaction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78408" y="3767328"/>
            <a:ext cx="4764024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Ask follow-up questions and handle yes/no answers to collect more useful symptoms.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3291840"/>
            <a:ext cx="5166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64808" y="34015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🛡️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39712" y="3401568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Support safe output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10528" y="3767328"/>
            <a:ext cx="4764024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Show descriptions, precautions, confidence handling, and warnings for severe cases.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5413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6BC"/>
                </a:solidFill>
              </a:rPr>
              <a:t>Core Takeaway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148840" y="5404104"/>
            <a:ext cx="9052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Meddy is built as a complete AI application: data processing + NLP + models + Flask web app + medical response logic.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C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Overview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381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418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8"/>
                </a:solidFill>
              </a:rPr>
              <a:t>From user message to final chatbot response.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</a:rPr>
              <a:t>Meddy AI Medical Chatbot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6002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04088" y="207568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User Message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04088" y="2441448"/>
            <a:ext cx="119786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Normal English symptom text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2121408" y="2468880"/>
            <a:ext cx="256032" cy="0"/>
          </a:xfrm>
          <a:prstGeom prst="line">
            <a:avLst/>
          </a:prstGeom>
          <a:noFill/>
          <a:ln w="25400">
            <a:solidFill>
              <a:srgbClr val="00A6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414016" y="1965959"/>
            <a:ext cx="1581912" cy="1234439"/>
          </a:xfrm>
          <a:prstGeom prst="roundRect">
            <a:avLst>
              <a:gd name="adj" fmla="val 10909"/>
            </a:avLst>
          </a:prstGeom>
          <a:solidFill>
            <a:srgbClr val="ECFA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615184" y="207568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Preprocessing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615184" y="2441448"/>
            <a:ext cx="119786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Tokenization + spelling correction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4032504" y="2468880"/>
            <a:ext cx="256032" cy="0"/>
          </a:xfrm>
          <a:prstGeom prst="line">
            <a:avLst/>
          </a:prstGeom>
          <a:noFill/>
          <a:ln w="25400">
            <a:solidFill>
              <a:srgbClr val="00A6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25112" y="1965960"/>
            <a:ext cx="1618488" cy="1234438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26280" y="207568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Symptom Recognition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526280" y="2441448"/>
            <a:ext cx="119786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Exact matching + neural network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5943600" y="2468880"/>
            <a:ext cx="256032" cy="0"/>
          </a:xfrm>
          <a:prstGeom prst="line">
            <a:avLst/>
          </a:prstGeom>
          <a:noFill/>
          <a:ln w="25400">
            <a:solidFill>
              <a:srgbClr val="00A6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236208" y="1965959"/>
            <a:ext cx="1618488" cy="1400695"/>
          </a:xfrm>
          <a:prstGeom prst="roundRect">
            <a:avLst>
              <a:gd name="adj" fmla="val 10909"/>
            </a:avLst>
          </a:prstGeom>
          <a:solidFill>
            <a:srgbClr val="ECFA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37376" y="207568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Conversation Logic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437376" y="2441448"/>
            <a:ext cx="119786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Follow-up questions + yes/no handling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7854696" y="2468880"/>
            <a:ext cx="256032" cy="0"/>
          </a:xfrm>
          <a:prstGeom prst="line">
            <a:avLst/>
          </a:prstGeom>
          <a:noFill/>
          <a:ln w="25400">
            <a:solidFill>
              <a:srgbClr val="00A6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129016" y="1974272"/>
            <a:ext cx="1618488" cy="140069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348472" y="207568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Disease Prediction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8348472" y="2441448"/>
            <a:ext cx="119786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One-hot vector + stacking classifier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9765792" y="2468880"/>
            <a:ext cx="256032" cy="0"/>
          </a:xfrm>
          <a:prstGeom prst="line">
            <a:avLst/>
          </a:prstGeom>
          <a:noFill/>
          <a:ln w="25400">
            <a:solidFill>
              <a:srgbClr val="00A6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0058400" y="1965960"/>
            <a:ext cx="1618488" cy="1400694"/>
          </a:xfrm>
          <a:prstGeom prst="roundRect">
            <a:avLst>
              <a:gd name="adj" fmla="val 10909"/>
            </a:avLst>
          </a:prstGeom>
          <a:solidFill>
            <a:srgbClr val="ECFA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259568" y="207568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Medical Output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10259568" y="2441448"/>
            <a:ext cx="119786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Description + precautions + warnings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1005840" y="3977640"/>
            <a:ext cx="10149840" cy="960120"/>
          </a:xfrm>
          <a:prstGeom prst="roundRect">
            <a:avLst>
              <a:gd name="adj" fmla="val 11429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234440" y="431596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FFFFFF"/>
                </a:solidFill>
              </a:rPr>
              <a:t>The chatbot has two intelligence layers: one model understands symptom text; another model predicts the disease from collected symptoms.</a:t>
            </a:r>
            <a:endParaRPr lang="en-US" sz="152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C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Assets Used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381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418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8"/>
                </a:solidFill>
              </a:rPr>
              <a:t>The project combines structured disease data with NLP training examples.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</a:rPr>
              <a:t>Meddy AI Medical Chatbot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2377440" cy="1298448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95528" y="14356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70432" y="1435608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dataset.csv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1801368"/>
            <a:ext cx="197510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4,920 records</a:t>
            </a:r>
            <a:endParaRPr lang="en-US" sz="97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41 diseases</a:t>
            </a:r>
            <a:endParaRPr lang="en-US" sz="97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131 unique symptoms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377440" cy="1298448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401568" y="14356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76472" y="1435608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intents.json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47288" y="1801368"/>
            <a:ext cx="197510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132 symptom tags</a:t>
            </a:r>
            <a:endParaRPr lang="en-US" sz="97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Example user phrases</a:t>
            </a:r>
            <a:endParaRPr lang="en-US" sz="97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Text-to-symptom training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5852160" y="1325880"/>
            <a:ext cx="2331720" cy="1298448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007608" y="14356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📚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82512" y="1435608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Descriptions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53328" y="1801368"/>
            <a:ext cx="197510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41 disease descriptions</a:t>
            </a:r>
            <a:endParaRPr lang="en-US" sz="97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Used after prediction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8458200" y="1325880"/>
            <a:ext cx="2377440" cy="1271016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613648" y="14356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988552" y="1435608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Precautions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59368" y="1801368"/>
            <a:ext cx="197510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4 precautions per disease</a:t>
            </a:r>
            <a:endParaRPr lang="en-US" sz="97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Displayed to user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1965960" y="3108960"/>
            <a:ext cx="2743200" cy="1252728"/>
          </a:xfrm>
          <a:prstGeom prst="roundRect">
            <a:avLst>
              <a:gd name="adj" fmla="val 9600"/>
            </a:avLst>
          </a:prstGeom>
          <a:solidFill>
            <a:srgbClr val="EAF8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2121408" y="32186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🌡️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496312" y="3218688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Severity Table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167128" y="3584448"/>
            <a:ext cx="234086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Symptom weights help decide when to warn the user about serious symptoms.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5074920" y="3108960"/>
            <a:ext cx="2743200" cy="1252728"/>
          </a:xfrm>
          <a:prstGeom prst="roundRect">
            <a:avLst>
              <a:gd name="adj" fmla="val 9600"/>
            </a:avLst>
          </a:prstGeom>
          <a:solidFill>
            <a:srgbClr val="EAF8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230368" y="32186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🧬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605272" y="3218688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Symptom List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76088" y="3584448"/>
            <a:ext cx="234086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Saved as pickle file and used to build the model input vector.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8183880" y="3108959"/>
            <a:ext cx="2743200" cy="1252727"/>
          </a:xfrm>
          <a:prstGeom prst="roundRect">
            <a:avLst>
              <a:gd name="adj" fmla="val 9600"/>
            </a:avLst>
          </a:prstGeom>
          <a:solidFill>
            <a:srgbClr val="EAF8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339328" y="32186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🕒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714232" y="3218688"/>
            <a:ext cx="2057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Chat History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385048" y="3584448"/>
            <a:ext cx="234086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Stores timestamp, symptoms, and predicted disease for previous sessions.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1005840" y="530352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2A44"/>
                </a:solidFill>
              </a:rPr>
              <a:t>Data is used in two ways: training models and enriching the final chatbot response.</a:t>
            </a:r>
            <a:endParaRPr lang="en-US" sz="14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C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NLP Symptom Recognition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381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418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8"/>
                </a:solidFill>
              </a:rPr>
              <a:t>The chatbot converts messy user text into clean symptom tags.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</a:rPr>
              <a:t>Meddy AI Medical Chatbot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230881" cy="123444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41248" y="13441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🔤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16152" y="13441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1. Tokenization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1709928"/>
            <a:ext cx="284378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NLTK splits the sentence into words so the system can process each part.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4480560" y="1234440"/>
            <a:ext cx="3246120" cy="123444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636008" y="13441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🪄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10912" y="13441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2. Spelling Correction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81728" y="1709928"/>
            <a:ext cx="284378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SpellChecker fixes mistakes such as “vomting” → “vomiting”.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8275320" y="1234440"/>
            <a:ext cx="3230880" cy="123444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430768" y="13441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✂️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05672" y="13441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3. Phrase Splitting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76488" y="1709928"/>
            <a:ext cx="284378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The sentence is split using punctuation, “and”, and “but”.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1143000" y="2971800"/>
            <a:ext cx="44805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399032" y="309067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0101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73352" y="3081528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4. Bag-of-Words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344168" y="3447288"/>
            <a:ext cx="407822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Words are converted into a vector of 0s and 1s based on the trained vocabulary.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37960" y="2971800"/>
            <a:ext cx="44805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693408" y="3081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🏷️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68312" y="3081528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5. Symptom Tag Output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39128" y="3447288"/>
            <a:ext cx="407822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The neural network returns the closest symptom label with a probability score.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11680" y="4808913"/>
            <a:ext cx="8138160" cy="594360"/>
          </a:xfrm>
          <a:prstGeom prst="roundRect">
            <a:avLst>
              <a:gd name="adj" fmla="val 18462"/>
            </a:avLst>
          </a:prstGeom>
          <a:solidFill>
            <a:srgbClr val="E9F7EF"/>
          </a:solidFill>
          <a:ln w="12700">
            <a:solidFill>
              <a:srgbClr val="BDE8C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2148840" y="501091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6337"/>
                </a:solidFill>
              </a:rPr>
              <a:t>Example: “My head hurts” → headache     |     “I threw up” → vomiting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C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1: Neural Network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381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1016644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8"/>
                </a:solidFill>
              </a:rPr>
              <a:t>Used for symptom recognition from natural language.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</a:rPr>
              <a:t>Meddy AI Medical Chatbot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965959"/>
            <a:ext cx="1600200" cy="985055"/>
          </a:xfrm>
          <a:prstGeom prst="roundRect">
            <a:avLst>
              <a:gd name="adj" fmla="val 12000"/>
            </a:avLst>
          </a:prstGeom>
          <a:solidFill>
            <a:srgbClr val="EAF8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04088" y="207568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Input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04088" y="2441448"/>
            <a:ext cx="119786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Bag-of-words vector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30552" y="2423160"/>
            <a:ext cx="246888" cy="0"/>
          </a:xfrm>
          <a:prstGeom prst="line">
            <a:avLst/>
          </a:prstGeom>
          <a:noFill/>
          <a:ln w="25400">
            <a:solidFill>
              <a:srgbClr val="00B3A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423160" y="1965960"/>
            <a:ext cx="1600200" cy="98505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624328" y="207568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Linear Layer 1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624328" y="2441448"/>
            <a:ext cx="119786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Input → Hidden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050792" y="2423160"/>
            <a:ext cx="246888" cy="0"/>
          </a:xfrm>
          <a:prstGeom prst="line">
            <a:avLst/>
          </a:prstGeom>
          <a:noFill/>
          <a:ln w="25400">
            <a:solidFill>
              <a:srgbClr val="00B3A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43400" y="1965960"/>
            <a:ext cx="1627632" cy="98505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44568" y="207568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ReLU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544568" y="2441448"/>
            <a:ext cx="119786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Activation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71032" y="2423160"/>
            <a:ext cx="246888" cy="0"/>
          </a:xfrm>
          <a:prstGeom prst="line">
            <a:avLst/>
          </a:prstGeom>
          <a:noFill/>
          <a:ln w="25400">
            <a:solidFill>
              <a:srgbClr val="00B3A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263640" y="1965960"/>
            <a:ext cx="1581912" cy="98505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64808" y="207568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Linear Layer 2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464808" y="2441448"/>
            <a:ext cx="119786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Hidden → Hidden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891272" y="2423160"/>
            <a:ext cx="246888" cy="0"/>
          </a:xfrm>
          <a:prstGeom prst="line">
            <a:avLst/>
          </a:prstGeom>
          <a:noFill/>
          <a:ln w="25400">
            <a:solidFill>
              <a:srgbClr val="00B3A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183880" y="1965960"/>
            <a:ext cx="1600200" cy="98505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385048" y="207568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ReLU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8385048" y="2441448"/>
            <a:ext cx="119786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Activation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811512" y="2423160"/>
            <a:ext cx="246888" cy="0"/>
          </a:xfrm>
          <a:prstGeom prst="line">
            <a:avLst/>
          </a:prstGeom>
          <a:noFill/>
          <a:ln w="25400">
            <a:solidFill>
              <a:srgbClr val="00B3A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0104120" y="1965960"/>
            <a:ext cx="1600200" cy="985054"/>
          </a:xfrm>
          <a:prstGeom prst="roundRect">
            <a:avLst>
              <a:gd name="adj" fmla="val 12000"/>
            </a:avLst>
          </a:prstGeom>
          <a:solidFill>
            <a:srgbClr val="E9F7E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305288" y="207568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Output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10305288" y="2441448"/>
            <a:ext cx="119786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Symptom classes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05840" y="3977639"/>
            <a:ext cx="4773168" cy="1217813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161288" y="40873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🧠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536192" y="408736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Why it is needed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207008" y="4453128"/>
            <a:ext cx="439826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The medical dataset uses clean symptom names, but users write normal sentences. The neural network bridges this gap.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6400800" y="3977640"/>
            <a:ext cx="4785360" cy="1217812"/>
          </a:xfrm>
          <a:prstGeom prst="roundRect">
            <a:avLst>
              <a:gd name="adj" fmla="val 9600"/>
            </a:avLst>
          </a:prstGeom>
          <a:solidFill>
            <a:srgbClr val="ECFA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556248" y="40873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➡️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931152" y="408736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Output example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601968" y="4453128"/>
            <a:ext cx="439826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Input: “I feel like throwing up”</a:t>
            </a:r>
            <a:endParaRPr lang="en-US" sz="97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Output: vomiting</a:t>
            </a:r>
            <a:endParaRPr lang="en-US" sz="97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C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2: Stacking Disease Prediction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381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744968" y="1092711"/>
            <a:ext cx="3512127" cy="411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8"/>
                </a:solidFill>
              </a:rPr>
              <a:t>A stacking classifier predicts the disease from collected symptoms.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</a:rPr>
              <a:t>Meddy AI Medical Chatbot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2057400" cy="1417320"/>
          </a:xfrm>
          <a:prstGeom prst="roundRect">
            <a:avLst>
              <a:gd name="adj" fmla="val 10909"/>
            </a:avLst>
          </a:prstGeom>
          <a:solidFill>
            <a:srgbClr val="EAF8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95528" y="12527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70432" y="125272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Input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636776"/>
            <a:ext cx="1872857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One-hot symptom vector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1 = present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0 = absent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1645920"/>
            <a:ext cx="548640" cy="0"/>
          </a:xfrm>
          <a:prstGeom prst="line">
            <a:avLst/>
          </a:prstGeom>
          <a:noFill/>
          <a:ln w="25400">
            <a:solidFill>
              <a:srgbClr val="00A6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520440" y="868680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721608" y="9784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Logistic Regression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21608" y="1344168"/>
            <a:ext cx="2523744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Learns symptom-disease relationships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3520440" y="1947672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721608" y="205740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KNN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21608" y="2423160"/>
            <a:ext cx="2523744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Compares with similar cases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3520440" y="3026664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721608" y="313639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Decision Tree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21608" y="3502152"/>
            <a:ext cx="2523744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Uses rule-like splits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3520440" y="4105656"/>
            <a:ext cx="29260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721608" y="421538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SVM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21608" y="4581144"/>
            <a:ext cx="2523744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Finds class boundaries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6583680" y="2788920"/>
            <a:ext cx="731520" cy="0"/>
          </a:xfrm>
          <a:prstGeom prst="line">
            <a:avLst/>
          </a:prstGeom>
          <a:noFill/>
          <a:ln w="25400">
            <a:solidFill>
              <a:srgbClr val="00A6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470648" y="2057400"/>
            <a:ext cx="1947672" cy="1746504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598664" y="22128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🎯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023860" y="2230930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Final Estimator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44968" y="2642616"/>
            <a:ext cx="142646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Logistic Regression combines the base model outputs.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9464040" y="2788920"/>
            <a:ext cx="548640" cy="0"/>
          </a:xfrm>
          <a:prstGeom prst="line">
            <a:avLst/>
          </a:prstGeom>
          <a:noFill/>
          <a:ln w="25400">
            <a:solidFill>
              <a:srgbClr val="00A6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10058400" y="2176272"/>
            <a:ext cx="1645920" cy="1207008"/>
          </a:xfrm>
          <a:prstGeom prst="roundRect">
            <a:avLst>
              <a:gd name="adj" fmla="val 9091"/>
            </a:avLst>
          </a:prstGeom>
          <a:solidFill>
            <a:srgbClr val="E9F7E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0213848" y="22860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🏥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0588752" y="228600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Output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259568" y="2651760"/>
            <a:ext cx="1243584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Predicted disease</a:t>
            </a:r>
            <a:endParaRPr lang="en-US" sz="97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Example: GERD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1234440" y="5212080"/>
            <a:ext cx="9829800" cy="502920"/>
          </a:xfrm>
          <a:prstGeom prst="roundRect">
            <a:avLst>
              <a:gd name="adj" fmla="val 25455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1417320" y="5394960"/>
            <a:ext cx="9464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stacking classifier uses 5-fold cross-validation internally through cv=5.</a:t>
            </a:r>
            <a:endParaRPr lang="en-US" sz="12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C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Disease Model Was Trained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381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418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8"/>
                </a:solidFill>
              </a:rPr>
              <a:t>The dataset is transformed from symptom text columns into numeric model features.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</a:rPr>
              <a:t>Meddy AI Medical Chatbot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438912" cy="438912"/>
          </a:xfrm>
          <a:prstGeom prst="ellipse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70432" y="1216152"/>
            <a:ext cx="2971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371600" y="132588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Load dataset.csv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2569464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Disease rows with Symptom_1 to Symptom_17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34840" y="1325880"/>
            <a:ext cx="438912" cy="438912"/>
          </a:xfrm>
          <a:prstGeom prst="ellipse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434840" y="144475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65192" y="1216152"/>
            <a:ext cx="2971800" cy="1051560"/>
          </a:xfrm>
          <a:prstGeom prst="roundRect">
            <a:avLst>
              <a:gd name="adj" fmla="val 10435"/>
            </a:avLst>
          </a:prstGeom>
          <a:solidFill>
            <a:srgbClr val="ECFA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166360" y="132588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Clean data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66360" y="1691640"/>
            <a:ext cx="2569464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Remove duplicate rows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29600" y="1325880"/>
            <a:ext cx="438912" cy="438912"/>
          </a:xfrm>
          <a:prstGeom prst="ellipse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29600" y="144475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1216152"/>
            <a:ext cx="2971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961120" y="132588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Extract symptoms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61120" y="1691640"/>
            <a:ext cx="2569464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Collect all unique symptoms from all symptom columns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3154680"/>
            <a:ext cx="438912" cy="438912"/>
          </a:xfrm>
          <a:prstGeom prst="ellipse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27355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70432" y="3044952"/>
            <a:ext cx="2971800" cy="1051560"/>
          </a:xfrm>
          <a:prstGeom prst="roundRect">
            <a:avLst>
              <a:gd name="adj" fmla="val 10435"/>
            </a:avLst>
          </a:prstGeom>
          <a:solidFill>
            <a:srgbClr val="ECFA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371600" y="315468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One-hot encode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3520440"/>
            <a:ext cx="2569464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Create a column for each symptom: 1 present, 0 absent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34840" y="3154680"/>
            <a:ext cx="438912" cy="438912"/>
          </a:xfrm>
          <a:prstGeom prst="ellipse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434840" y="327355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65192" y="3044952"/>
            <a:ext cx="2971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166360" y="315468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Split data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66360" y="3520440"/>
            <a:ext cx="2569464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Create train/test split: 80% / 20%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229600" y="3154680"/>
            <a:ext cx="438912" cy="438912"/>
          </a:xfrm>
          <a:prstGeom prst="ellipse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229600" y="327355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759952" y="3044952"/>
            <a:ext cx="2971800" cy="1051560"/>
          </a:xfrm>
          <a:prstGeom prst="roundRect">
            <a:avLst>
              <a:gd name="adj" fmla="val 10435"/>
            </a:avLst>
          </a:prstGeom>
          <a:solidFill>
            <a:srgbClr val="ECFA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961120" y="3154680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Train + save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961120" y="3520440"/>
            <a:ext cx="2569464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Fit stacking classifier and save fitted_model.pickle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60120" y="544068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</a:rPr>
              <a:t>One important improvement: train only on X_train and evaluate on unseen X_test for a more realistic score.</a:t>
            </a:r>
            <a:endParaRPr lang="en-US" sz="12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C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&amp; Follow-Up Logic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381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418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8"/>
                </a:solidFill>
              </a:rPr>
              <a:t>The chatbot does not immediately guess; it collects more useful symptoms.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</a:rPr>
              <a:t>Meddy AI Medical Chatbot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280160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41248" y="1389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1️⃣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16152" y="138988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Detected symptom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1755648"/>
            <a:ext cx="1929384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Example: chest pain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3063240" y="1755648"/>
            <a:ext cx="594360" cy="0"/>
          </a:xfrm>
          <a:prstGeom prst="line">
            <a:avLst/>
          </a:prstGeom>
          <a:noFill/>
          <a:ln w="25400">
            <a:solidFill>
              <a:srgbClr val="00A6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749040" y="1280160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ECFA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904488" y="1389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2️⃣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279392" y="138988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Temporary disease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950208" y="1755648"/>
            <a:ext cx="1929384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Model checks top likely disease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6126480" y="1755648"/>
            <a:ext cx="594360" cy="0"/>
          </a:xfrm>
          <a:prstGeom prst="line">
            <a:avLst/>
          </a:prstGeom>
          <a:noFill/>
          <a:ln w="25400">
            <a:solidFill>
              <a:srgbClr val="00A6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812280" y="1280160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967728" y="1389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3️⃣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42632" y="138988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Related symptoms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13448" y="1755648"/>
            <a:ext cx="1929384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Find symptoms from dataset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9189720" y="1755648"/>
            <a:ext cx="594360" cy="0"/>
          </a:xfrm>
          <a:prstGeom prst="line">
            <a:avLst/>
          </a:prstGeom>
          <a:noFill/>
          <a:ln w="25400">
            <a:solidFill>
              <a:srgbClr val="00A6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875520" y="1280160"/>
            <a:ext cx="1645920" cy="960120"/>
          </a:xfrm>
          <a:prstGeom prst="roundRect">
            <a:avLst>
              <a:gd name="adj" fmla="val 11429"/>
            </a:avLst>
          </a:prstGeom>
          <a:solidFill>
            <a:srgbClr val="E9F7E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030968" y="1389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4️⃣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405872" y="1389888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Question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076688" y="1755648"/>
            <a:ext cx="1243584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Ask yes/no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1143000" y="3108960"/>
            <a:ext cx="4526280" cy="1234440"/>
          </a:xfrm>
          <a:prstGeom prst="roundRect">
            <a:avLst>
              <a:gd name="adj" fmla="val 8889"/>
            </a:avLst>
          </a:prstGeom>
          <a:solidFill>
            <a:srgbClr val="E9F7E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298448" y="32186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673352" y="321868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If user answers “yes”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344168" y="3584448"/>
            <a:ext cx="412394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The pending suggested symptom is added to user_symptoms and used in prediction.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537960" y="3108960"/>
            <a:ext cx="4526280" cy="1234440"/>
          </a:xfrm>
          <a:prstGeom prst="roundRect">
            <a:avLst>
              <a:gd name="adj" fmla="val 8889"/>
            </a:avLst>
          </a:prstGeom>
          <a:solidFill>
            <a:srgbClr val="FFF1F2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693408" y="32186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❌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068312" y="321868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If user answers “no”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739128" y="3584448"/>
            <a:ext cx="412394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The symptom is added to rejected_symptoms so the chatbot avoids asking it again.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2011680" y="5074920"/>
            <a:ext cx="8138160" cy="530352"/>
          </a:xfrm>
          <a:prstGeom prst="roundRect">
            <a:avLst>
              <a:gd name="adj" fmla="val 20690"/>
            </a:avLst>
          </a:prstGeom>
          <a:solidFill>
            <a:srgbClr val="EAF8FF"/>
          </a:solidFill>
          <a:ln w="12700">
            <a:solidFill>
              <a:srgbClr val="BCE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2148840" y="5266944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4"/>
                </a:solidFill>
              </a:rPr>
              <a:t>The chatbot asks up to 3 follow-up questions, then asks the user to type “Done” or “Force Done”.</a:t>
            </a:r>
            <a:endParaRPr lang="en-US" sz="12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C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Features Implemented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381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418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8"/>
                </a:solidFill>
              </a:rPr>
              <a:t>Meddy includes both AI features and application features.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</a:rPr>
              <a:t>Meddy AI Medical Chatbot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95528" y="13441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Natural language input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95528" y="1709928"/>
            <a:ext cx="215798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Users can write symptoms in everyday English.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0" y="12344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ECFA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675888" y="13441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Multiple symptoms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675888" y="1709928"/>
            <a:ext cx="215798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Detects more than one symptom in one message.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355080" y="12344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56248" y="13441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Spelling correction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556248" y="1709928"/>
            <a:ext cx="215798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Fixes common misspellings before classification.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235440" y="123444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ECFA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436608" y="13441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Follow-up questions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436608" y="1709928"/>
            <a:ext cx="215798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Asks about related symptoms to improve prediction.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310896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95528" y="321868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Confidence handling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795528" y="3584448"/>
            <a:ext cx="215798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If confidence is low, it asks for more information.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0" y="310896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ECFA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675888" y="321868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Medical response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3675888" y="3584448"/>
            <a:ext cx="215798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Shows disease description, precautions, and warnings.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355080" y="310896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556248" y="321868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Emergency alerts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556248" y="3584448"/>
            <a:ext cx="215798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Critical conditions trigger an urgent warning message.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235440" y="310896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ECFA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436608" y="321868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Chat history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9436608" y="3584448"/>
            <a:ext cx="2157984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Stores symptoms, disease, and timestamp.</a:t>
            </a:r>
            <a:endParaRPr lang="en-US" sz="8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C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Design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381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418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8"/>
                </a:solidFill>
              </a:rPr>
              <a:t>Experiments were designed to test the system from both ML and chatbot perspectives.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</a:rPr>
              <a:t>Meddy AI Medical Chatbot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86968" y="13441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61872" y="1344168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Disease Model Evaluation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32688" y="1709928"/>
            <a:ext cx="307238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The model uses an 80/20 train-test split and reports model score on the test subset.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4434840" y="123444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90288" y="13441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65192" y="1344168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Stacking Validation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36008" y="1709928"/>
            <a:ext cx="307238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The stacking classifier uses cv=5 internally to train the meta-model.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8138160" y="123444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93608" y="13441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🧪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68512" y="1344168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Input Robustness Tests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39328" y="1709928"/>
            <a:ext cx="3072384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Tests check misspellings, greetings, unknown words, and multi-symptom text.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82296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6BC"/>
                </a:solidFill>
              </a:rPr>
              <a:t>Test Scenarios</a:t>
            </a:r>
            <a:endParaRPr lang="en-US" sz="13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818712"/>
              </p:ext>
            </p:extLst>
          </p:nvPr>
        </p:nvGraphicFramePr>
        <p:xfrm>
          <a:off x="822960" y="3474720"/>
          <a:ext cx="10561320" cy="14630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Greeting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“hello”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Prompt user to enter symptoms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Misspelling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“cheest pain and vomting”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Correct and detect symptoms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 confidence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Few or unclear symptoms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Ask for more symptoms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Diagnosis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 types “Done”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 disease + precautions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C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Results &amp; Example Outputs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381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418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8"/>
                </a:solidFill>
              </a:rPr>
              <a:t>The chatbot was able to detect symptoms, ask questions, and save diagnosis history.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</a:rPr>
              <a:t>Meddy AI Medical Chatbot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671221"/>
              </p:ext>
            </p:extLst>
          </p:nvPr>
        </p:nvGraphicFramePr>
        <p:xfrm>
          <a:off x="579121" y="1645920"/>
          <a:ext cx="5212080" cy="228600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Detected symptoms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Predicted disease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headache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migraine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continuous_sneezing + chills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allergy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chest_pain + vomiting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gerd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chest_pain + acidity + vomiting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gerd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0" y="1325880"/>
            <a:ext cx="4754880" cy="1005840"/>
          </a:xfrm>
          <a:prstGeom prst="roundRect">
            <a:avLst>
              <a:gd name="adj" fmla="val 10909"/>
            </a:avLst>
          </a:prstGeom>
          <a:solidFill>
            <a:srgbClr val="ECFA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556248" y="14356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💬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931152" y="1435608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Example chatbot response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01968" y="1801368"/>
            <a:ext cx="435254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“I have noted chest pain and vomiting. Do you also feel acidity?”</a:t>
            </a:r>
            <a:endParaRPr lang="en-US" sz="970" dirty="0"/>
          </a:p>
        </p:txBody>
      </p:sp>
      <p:sp>
        <p:nvSpPr>
          <p:cNvPr id="11" name="Shape 8"/>
          <p:cNvSpPr/>
          <p:nvPr/>
        </p:nvSpPr>
        <p:spPr>
          <a:xfrm>
            <a:off x="6400800" y="2788920"/>
            <a:ext cx="47548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556248" y="28986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🏥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931152" y="2898648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Final output</a:t>
            </a:r>
            <a:endParaRPr lang="en-US" sz="1250" dirty="0"/>
          </a:p>
        </p:txBody>
      </p:sp>
      <p:sp>
        <p:nvSpPr>
          <p:cNvPr id="6" name="Text 11"/>
          <p:cNvSpPr/>
          <p:nvPr/>
        </p:nvSpPr>
        <p:spPr>
          <a:xfrm>
            <a:off x="6601968" y="3264408"/>
            <a:ext cx="435254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Predicted disease + description + four precautions + warning if severe.</a:t>
            </a:r>
            <a:endParaRPr lang="en-US" sz="970" dirty="0"/>
          </a:p>
        </p:txBody>
      </p:sp>
      <p:sp>
        <p:nvSpPr>
          <p:cNvPr id="15" name="Shape 12"/>
          <p:cNvSpPr/>
          <p:nvPr/>
        </p:nvSpPr>
        <p:spPr>
          <a:xfrm>
            <a:off x="6400800" y="4251960"/>
            <a:ext cx="4754880" cy="1005840"/>
          </a:xfrm>
          <a:prstGeom prst="roundRect">
            <a:avLst>
              <a:gd name="adj" fmla="val 10909"/>
            </a:avLst>
          </a:prstGeom>
          <a:solidFill>
            <a:srgbClr val="E9F7E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556248" y="43616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💾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931152" y="4361688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History saved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601968" y="4727448"/>
            <a:ext cx="435254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Timestamp, selected symptoms, and predicted disease are saved in chat_history.json.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C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Safety, Limitations &amp; Future Work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381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418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8"/>
                </a:solidFill>
              </a:rPr>
              <a:t>The chatbot is useful, but it should be presented responsibly.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</a:rPr>
              <a:t>Meddy AI Medical Chatbot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188720"/>
            <a:ext cx="3429000" cy="1280160"/>
          </a:xfrm>
          <a:prstGeom prst="roundRect">
            <a:avLst>
              <a:gd name="adj" fmla="val 8571"/>
            </a:avLst>
          </a:prstGeom>
          <a:solidFill>
            <a:srgbClr val="FFF1F2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41248" y="12984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🚨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16152" y="129844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Safety Design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1664208"/>
            <a:ext cx="302666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Critical diseases trigger emergency warnings. Severe symptom weights trigger doctor-advice messages.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4389120" y="1188720"/>
            <a:ext cx="3429000" cy="1413164"/>
          </a:xfrm>
          <a:prstGeom prst="roundRect">
            <a:avLst>
              <a:gd name="adj" fmla="val 8571"/>
            </a:avLst>
          </a:prstGeom>
          <a:solidFill>
            <a:srgbClr val="FFF7ED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44568" y="12984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⚠️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19472" y="129844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Current Limitations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90288" y="1664208"/>
            <a:ext cx="302666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The model depends on available dataset diseases and does not use lab tests, age, medical history, or examination.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8092440" y="1188720"/>
            <a:ext cx="34290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47888" y="12984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📌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22792" y="129844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Evaluation Limitation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93608" y="1664208"/>
            <a:ext cx="302666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The training script should be improved by fitting only on X_train and testing on unseen X_test.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777240" y="3154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6BC"/>
                </a:solidFill>
              </a:rPr>
              <a:t>Future Improvements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14400" y="3611880"/>
            <a:ext cx="118872" cy="118872"/>
          </a:xfrm>
          <a:prstGeom prst="ellipse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143000" y="3538728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Add age, gender, medical history, and risk factors.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143000" y="3922776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Use larger and more realistic medical datasets.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" y="4379976"/>
            <a:ext cx="118872" cy="118872"/>
          </a:xfrm>
          <a:prstGeom prst="ellipse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143000" y="4306824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Report precision, recall, F1-score, and confusion matrix.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4400" y="4764024"/>
            <a:ext cx="118872" cy="118872"/>
          </a:xfrm>
          <a:prstGeom prst="ellipse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143000" y="469087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Add multilingual support and better explanation for each prediction.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14400" y="5148072"/>
            <a:ext cx="118872" cy="118872"/>
          </a:xfrm>
          <a:prstGeom prst="ellipse">
            <a:avLst/>
          </a:prstGeom>
          <a:solidFill>
            <a:srgbClr val="00A6C8"/>
          </a:solidFill>
          <a:ln w="127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143000" y="507492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Improve UI and add doctor/hospital referral options.</a:t>
            </a:r>
            <a:endParaRPr lang="en-US" sz="11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C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 &amp; Libraries Used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381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418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8"/>
                </a:solidFill>
              </a:rPr>
              <a:t>The project connects web development, NLP, deep learning, and classical ML.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</a:rPr>
              <a:t>Meddy AI Medical Chatbot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246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41248" y="13441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🌐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16152" y="13441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Web App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86968" y="1709928"/>
            <a:ext cx="2843784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Flask</a:t>
            </a:r>
            <a:endParaRPr lang="en-US" sz="92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render_template</a:t>
            </a:r>
            <a:endParaRPr lang="en-US" sz="92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request</a:t>
            </a:r>
            <a:endParaRPr lang="en-US" sz="92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jsonify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434840" y="1234440"/>
            <a:ext cx="3246120" cy="1508760"/>
          </a:xfrm>
          <a:prstGeom prst="roundRect">
            <a:avLst>
              <a:gd name="adj" fmla="val 7273"/>
            </a:avLst>
          </a:prstGeom>
          <a:solidFill>
            <a:srgbClr val="ECFA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90288" y="13441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65192" y="13441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NLP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36008" y="1709928"/>
            <a:ext cx="2843784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NLTK</a:t>
            </a:r>
            <a:endParaRPr lang="en-US" sz="92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PorterStemmer</a:t>
            </a:r>
            <a:endParaRPr lang="en-US" sz="92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Bag-of-Words</a:t>
            </a:r>
            <a:endParaRPr lang="en-US" sz="92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SpellChecker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183880" y="1234440"/>
            <a:ext cx="3246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339328" y="13441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🧠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714232" y="13441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Deep Learning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85048" y="1709928"/>
            <a:ext cx="2843784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PyTorch</a:t>
            </a:r>
            <a:endParaRPr lang="en-US" sz="92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torch.nn</a:t>
            </a:r>
            <a:endParaRPr lang="en-US" sz="92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NeuralNet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85800" y="3291840"/>
            <a:ext cx="3246120" cy="1508760"/>
          </a:xfrm>
          <a:prstGeom prst="roundRect">
            <a:avLst>
              <a:gd name="adj" fmla="val 7273"/>
            </a:avLst>
          </a:prstGeom>
          <a:solidFill>
            <a:srgbClr val="ECFA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1248" y="34015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📈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216152" y="34015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Machine Learning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6968" y="3767328"/>
            <a:ext cx="2843784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Scikit-learn</a:t>
            </a:r>
            <a:endParaRPr lang="en-US" sz="92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StackingClassifier</a:t>
            </a:r>
            <a:endParaRPr lang="en-US" sz="92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Logistic Regression</a:t>
            </a:r>
            <a:endParaRPr lang="en-US" sz="92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KNN / Decision Tree / SVM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434840" y="3291840"/>
            <a:ext cx="32461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590288" y="34015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965192" y="34015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Data Handling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36008" y="3767328"/>
            <a:ext cx="2843784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Pandas</a:t>
            </a:r>
            <a:endParaRPr lang="en-US" sz="92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NumPy</a:t>
            </a:r>
            <a:endParaRPr lang="en-US" sz="92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CSV files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183880" y="3291840"/>
            <a:ext cx="3246120" cy="1856232"/>
          </a:xfrm>
          <a:prstGeom prst="roundRect">
            <a:avLst>
              <a:gd name="adj" fmla="val 7273"/>
            </a:avLst>
          </a:prstGeom>
          <a:solidFill>
            <a:srgbClr val="ECFA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339328" y="34015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🧰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714232" y="34015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Storage / Utilities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85048" y="3767328"/>
            <a:ext cx="2843784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Pickle</a:t>
            </a:r>
            <a:endParaRPr lang="en-US" sz="92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JSON</a:t>
            </a:r>
            <a:endParaRPr lang="en-US" sz="92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os</a:t>
            </a:r>
            <a:endParaRPr lang="en-US" sz="92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random</a:t>
            </a:r>
            <a:endParaRPr lang="en-US" sz="92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datetime</a:t>
            </a:r>
            <a:endParaRPr lang="en-US" sz="920" dirty="0"/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re</a:t>
            </a:r>
            <a:endParaRPr lang="en-US" sz="92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C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38100">
            <a:solidFill>
              <a:srgbClr val="00A6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418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8"/>
                </a:solidFill>
              </a:rPr>
              <a:t>Meddy demonstrates a complete AI pipeline from user text to medical response.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AE"/>
                </a:solidFill>
              </a:rPr>
              <a:t>Meddy AI Medical Chatbot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325880"/>
            <a:ext cx="10378440" cy="1828800"/>
          </a:xfrm>
          <a:prstGeom prst="roundRect">
            <a:avLst>
              <a:gd name="adj" fmla="val 9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234440" y="1874520"/>
            <a:ext cx="9738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Meddy combines NLP, deep learning, and machine learning to create a conversational symptom-checking chatbot.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3794760"/>
            <a:ext cx="3063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298448" y="39044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1️⃣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73352" y="390448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Understand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44168" y="4270248"/>
            <a:ext cx="266090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Recognizes symptoms from natural language.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4572000" y="3794760"/>
            <a:ext cx="3063240" cy="1143000"/>
          </a:xfrm>
          <a:prstGeom prst="roundRect">
            <a:avLst>
              <a:gd name="adj" fmla="val 9600"/>
            </a:avLst>
          </a:prstGeom>
          <a:solidFill>
            <a:srgbClr val="ECFAF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727448" y="39044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2️⃣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102352" y="390448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Predict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73168" y="4270248"/>
            <a:ext cx="266090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Uses collected symptoms to predict a disease.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8001000" y="3794760"/>
            <a:ext cx="3063240" cy="1143000"/>
          </a:xfrm>
          <a:prstGeom prst="roundRect">
            <a:avLst>
              <a:gd name="adj" fmla="val 9600"/>
            </a:avLst>
          </a:prstGeom>
          <a:solidFill>
            <a:srgbClr val="E9F7EF"/>
          </a:solidFill>
          <a:ln w="12700">
            <a:solidFill>
              <a:srgbClr val="D9E8F2"/>
            </a:solidFill>
            <a:prstDash val="solid"/>
          </a:ln>
          <a:effectLst>
            <a:outerShdw blurRad="25400" dist="50800" dir="2700000" algn="bl" rotWithShape="0">
              <a:srgbClr val="D0E5F2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156448" y="39044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</a:rPr>
              <a:t>3️⃣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31352" y="390448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</a:rPr>
              <a:t>Support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02168" y="4270248"/>
            <a:ext cx="2660904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Provides descriptions, precautions, and warnings.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1051560" y="5715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</a:rPr>
              <a:t>Final message: supportive AI can make symptom checking easier, but medical decisions should still involve healthcare professionals.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C9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2024</Words>
  <Application>Microsoft Office PowerPoint</Application>
  <PresentationFormat>Widescreen</PresentationFormat>
  <Paragraphs>375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Marwan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Meddy AI Medical Chatbot</dc:title>
  <dc:subject>AI Medical Chatbot Project Presentation</dc:subject>
  <dc:creator>OpenAI</dc:creator>
  <cp:lastModifiedBy>marawan.raslan@gmail.com</cp:lastModifiedBy>
  <cp:revision>2</cp:revision>
  <dcterms:created xsi:type="dcterms:W3CDTF">2026-05-18T15:19:33Z</dcterms:created>
  <dcterms:modified xsi:type="dcterms:W3CDTF">2026-05-18T20:19:34Z</dcterms:modified>
</cp:coreProperties>
</file>